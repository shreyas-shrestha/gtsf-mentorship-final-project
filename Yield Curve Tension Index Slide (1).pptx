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DM Sans Bold" charset="1" panose="00000000000000000000"/>
      <p:regular r:id="rId7"/>
    </p:embeddedFont>
    <p:embeddedFont>
      <p:font typeface="DM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3808" y="1708772"/>
            <a:ext cx="8195164" cy="6005109"/>
          </a:xfrm>
          <a:custGeom>
            <a:avLst/>
            <a:gdLst/>
            <a:ahLst/>
            <a:cxnLst/>
            <a:rect r="r" b="b" t="t" l="l"/>
            <a:pathLst>
              <a:path h="6005109" w="8195164">
                <a:moveTo>
                  <a:pt x="0" y="0"/>
                </a:moveTo>
                <a:lnTo>
                  <a:pt x="8195165" y="0"/>
                </a:lnTo>
                <a:lnTo>
                  <a:pt x="8195165" y="6005109"/>
                </a:lnTo>
                <a:lnTo>
                  <a:pt x="0" y="600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72128" y="427292"/>
            <a:ext cx="157437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Yield Curve Tension Index: Quantifying Macro Stress for Risk-Aware Equities Trading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3808" y="9393718"/>
            <a:ext cx="1639549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limitation: 3 U.S. recessions is insufficient for statistical validation of timing claims.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is a macro risk conditioning tool, not a standalone forecast model.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4636" y="1725831"/>
            <a:ext cx="10861796" cy="598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Unsupervised HMM captures 94.3% of recession days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predicts forward volatility: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β = 0.0165  |  t = 2.14  |  p = 0.032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Newey-West corrected  |  n = 6,268 days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Portfolio Impact: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Strategy        Sharpe    Max Drawdown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Buy &amp; Hold       0.451      -59.6%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Vol-Targeting    0.596      -27.6%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YCTI Overlay     0.644      -26.3%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Cross Market Recession Capture: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Germany   74%   (5 recessions)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UK        82%   (4 recessions)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Canada   100%   (2 recessions)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15 total recession episodes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1213" y="7880463"/>
            <a:ext cx="730035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overlay on SPY 2000-2024. Signal fired August 16, 2007 — 347 days before the GFC trough.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DAHHr6b3eXE</dc:identifier>
  <dcterms:modified xsi:type="dcterms:W3CDTF">2011-08-01T06:04:30Z</dcterms:modified>
  <cp:revision>1</cp:revision>
  <dc:title>Yield Curve Tension Index Slide</dc:title>
</cp:coreProperties>
</file>